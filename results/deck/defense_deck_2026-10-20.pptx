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Noto Sans" charset="1" panose="020B0502040504020204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HYhZ0vTYE.mp4" Type="http://schemas.openxmlformats.org/officeDocument/2006/relationships/video"/><Relationship Id="rId4" Target="../media/VAHYhZ0vTYE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2A43">
                    <a:alpha val="18000"/>
                  </a:srgbClr>
                </a:gs>
                <a:gs pos="100000">
                  <a:srgbClr val="0E9F8A">
                    <a:alpha val="18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552575"/>
            <a:ext cx="9906000" cy="417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7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Латинаар бичсэн монгол бичвэрийг </a:t>
            </a:r>
          </a:p>
          <a:p>
            <a:pPr algn="l">
              <a:lnSpc>
                <a:spcPts val="8109"/>
              </a:lnSpc>
            </a:pPr>
            <a:r>
              <a:rPr lang="en-US" sz="7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кирилл рүү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80377"/>
            <a:ext cx="781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ByT5 суурьтай хөрвүүлэгч — утсанд багтах нейрон загвар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71288"/>
            <a:ext cx="9906000" cy="27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za bi margaash ugluu irne  →  За би маргааш өглөө ирнэ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8553450"/>
            <a:ext cx="1000125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EAAA9"/>
                </a:solidFill>
                <a:latin typeface="Noto Sans"/>
                <a:ea typeface="Noto Sans"/>
                <a:cs typeface="Noto Sans"/>
                <a:sym typeface="Noto Sans"/>
              </a:rPr>
              <a:t>Э.Баянмөнх  ·  AI Engineer хөтөлбөр NLP  ·  2026 оны 10-р сар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Нэг хэл. Хоёр бичлэг. Нэг том саад.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" y="2800350"/>
            <a:ext cx="6191250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E860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 margaash irne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15625" y="2800350"/>
            <a:ext cx="6191250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0E9F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Би маргааш ирнэ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875" y="4810125"/>
            <a:ext cx="4762500" cy="31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Хүн ойлгоно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0" y="4810125"/>
            <a:ext cx="4762500" cy="31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Технологи төөрнө</a:t>
            </a:r>
          </a:p>
        </p:txBody>
      </p:sp>
      <p:sp>
        <p:nvSpPr>
          <p:cNvPr name="AutoShape 7" id="7"/>
          <p:cNvSpPr/>
          <p:nvPr/>
        </p:nvSpPr>
        <p:spPr>
          <a:xfrm>
            <a:off x="9144000" y="2238375"/>
            <a:ext cx="0" cy="4524375"/>
          </a:xfrm>
          <a:prstGeom prst="line">
            <a:avLst/>
          </a:prstGeom>
          <a:ln cap="flat" w="38100">
            <a:solidFill>
              <a:srgbClr val="D8EEEA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476625" y="7905750"/>
            <a:ext cx="1133475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2700">
                <a:solidFill>
                  <a:srgbClr val="153243"/>
                </a:solidFill>
                <a:latin typeface="Noto Sans"/>
                <a:ea typeface="Noto Sans"/>
                <a:cs typeface="Noto Sans"/>
                <a:sym typeface="Noto Sans"/>
              </a:rPr>
              <a:t>Хайлт, чатбот, орчуулга, дуут уншигч кирилл оролтыг хүлээдэг.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Систем хэрхэн ажилладаг вэ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857500"/>
            <a:ext cx="5429250" cy="2857500"/>
            <a:chOff x="0" y="0"/>
            <a:chExt cx="7239000" cy="381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239000" cy="3810000"/>
              <a:chOff x="0" y="0"/>
              <a:chExt cx="7239000" cy="381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239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239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4500" y="936625"/>
              <a:ext cx="6350000" cy="521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7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· Сургалт, нэг удаа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98500" y="2066925"/>
              <a:ext cx="584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хос үүсгэж ByT5 загварыг сургана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429375" y="4286250"/>
            <a:ext cx="285750" cy="0"/>
          </a:xfrm>
          <a:prstGeom prst="line">
            <a:avLst/>
          </a:prstGeom>
          <a:ln cap="rnd" w="76200">
            <a:solidFill>
              <a:srgbClr val="E860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762750" y="2857500"/>
            <a:ext cx="5429250" cy="2857500"/>
            <a:chOff x="0" y="0"/>
            <a:chExt cx="7239000" cy="3810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239000" cy="3810000"/>
              <a:chOff x="0" y="0"/>
              <a:chExt cx="7239000" cy="381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239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0E9F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7239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936625"/>
              <a:ext cx="6350000" cy="521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7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· Сервер: вэб демо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98500" y="2066925"/>
              <a:ext cx="584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бүтэн мессеж, хувилбартай, ~1 сек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239625" y="4286250"/>
            <a:ext cx="285750" cy="0"/>
          </a:xfrm>
          <a:prstGeom prst="line">
            <a:avLst/>
          </a:prstGeom>
          <a:ln cap="rnd" w="76200">
            <a:solidFill>
              <a:srgbClr val="E860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573000" y="2857500"/>
            <a:ext cx="5429250" cy="2857500"/>
            <a:chOff x="0" y="0"/>
            <a:chExt cx="7239000" cy="3810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239000" cy="3810000"/>
              <a:chOff x="0" y="0"/>
              <a:chExt cx="7239000" cy="381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239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7239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44500" y="936625"/>
              <a:ext cx="6350000" cy="521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7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· Утас: Android гар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98500" y="2066925"/>
              <a:ext cx="584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үг бүрээр, 19 MB, интернэтгүй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7750" y="7562850"/>
            <a:ext cx="16192500" cy="5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2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Нэг удаа сургасан загвар хоёр газар ажиллана: сервер дээр бүтэн мессежийг, утсан дотор үг бүрийг хөрвүүлнэ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Бодит хэл эмх цэгцгүй байдаг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476500"/>
            <a:ext cx="5334000" cy="3810000"/>
            <a:chOff x="0" y="0"/>
            <a:chExt cx="7112000" cy="508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112000" cy="5080000"/>
              <a:chOff x="0" y="0"/>
              <a:chExt cx="7112000" cy="508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112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112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825500"/>
              <a:ext cx="7112000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75"/>
                </a:lnSpc>
              </a:pPr>
              <a:r>
                <a:rPr lang="en-US" sz="11250" b="true">
                  <a:solidFill>
                    <a:srgbClr val="E860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664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0" y="3136900"/>
              <a:ext cx="660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YouTube сэтгэгдэл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62750" y="2476500"/>
            <a:ext cx="5334000" cy="3810000"/>
            <a:chOff x="0" y="0"/>
            <a:chExt cx="7112000" cy="508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112000" cy="5080000"/>
              <a:chOff x="0" y="0"/>
              <a:chExt cx="7112000" cy="508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12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112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730250"/>
              <a:ext cx="7112000" cy="1056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4"/>
                </a:lnSpc>
              </a:pPr>
              <a:r>
                <a:rPr lang="en-US" sz="5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холимог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4000" y="3136900"/>
              <a:ext cx="660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латин + кирилл бичлэг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73000" y="2476500"/>
            <a:ext cx="5334000" cy="3810000"/>
            <a:chOff x="0" y="0"/>
            <a:chExt cx="7112000" cy="508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112000" cy="5080000"/>
              <a:chOff x="0" y="0"/>
              <a:chExt cx="7112000" cy="508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112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112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730250"/>
              <a:ext cx="7112000" cy="1056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4"/>
                </a:lnSpc>
              </a:pPr>
              <a:r>
                <a:rPr lang="en-US" sz="5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богино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4000" y="3136900"/>
              <a:ext cx="660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чат маягийн өгүүлбэр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762250" y="7715250"/>
            <a:ext cx="12763500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Лабораторийн өгөгдөл биш — хэрэглэгчдийн үнэхээр бичдэг хэл.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Шалгалтын өгөгдөлд хүрээгүй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90625" y="2571750"/>
            <a:ext cx="4953000" cy="3143250"/>
            <a:chOff x="0" y="0"/>
            <a:chExt cx="6604000" cy="4191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822325"/>
              <a:ext cx="6604000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50"/>
                </a:lnSpc>
              </a:pPr>
              <a:r>
                <a:rPr lang="en-US" sz="7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70%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05100"/>
              <a:ext cx="6604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Сургалт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53250" y="2571750"/>
            <a:ext cx="4953000" cy="3143250"/>
            <a:chOff x="0" y="0"/>
            <a:chExt cx="6604000" cy="419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E9F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822325"/>
              <a:ext cx="6604000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50"/>
                </a:lnSpc>
              </a:pPr>
              <a:r>
                <a:rPr lang="en-US" sz="7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1%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705100"/>
              <a:ext cx="6604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Сонголт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15875" y="2571750"/>
            <a:ext cx="4953000" cy="3143250"/>
            <a:chOff x="0" y="0"/>
            <a:chExt cx="6604000" cy="4191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E860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822325"/>
              <a:ext cx="6604000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50"/>
                </a:lnSpc>
              </a:pPr>
              <a:r>
                <a:rPr lang="en-US" sz="7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195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705100"/>
              <a:ext cx="6604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Шалгалт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238500" y="7200900"/>
            <a:ext cx="118110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3000">
                <a:solidFill>
                  <a:srgbClr val="153243"/>
                </a:solidFill>
                <a:latin typeface="Noto Sans"/>
                <a:ea typeface="Noto Sans"/>
                <a:cs typeface="Noto Sans"/>
                <a:sym typeface="Noto Sans"/>
              </a:rPr>
              <a:t>195 бодит мессежийг сургалт болон загвар сонголтод огт ашиглаагүй.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ByT5-ийг гурван үеэр сургадаг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2286000"/>
            <a:ext cx="5238750" cy="4191000"/>
            <a:chOff x="0" y="0"/>
            <a:chExt cx="6985000" cy="558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985000" cy="5588000"/>
              <a:chOff x="0" y="0"/>
              <a:chExt cx="6985000" cy="558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9850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9850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7500" y="549275"/>
              <a:ext cx="1905000" cy="110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0"/>
                </a:lnSpc>
              </a:pPr>
              <a:r>
                <a:rPr lang="en-US" sz="6000" b="true">
                  <a:solidFill>
                    <a:srgbClr val="E860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17500" y="1952625"/>
              <a:ext cx="6477000" cy="491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Суурь загвар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17500" y="3263900"/>
              <a:ext cx="6350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google/byt5-small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0.3 тэрбум параметр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24625" y="2286000"/>
            <a:ext cx="5238750" cy="4191000"/>
            <a:chOff x="0" y="0"/>
            <a:chExt cx="6985000" cy="5588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985000" cy="5588000"/>
              <a:chOff x="0" y="0"/>
              <a:chExt cx="6985000" cy="5588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9850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9850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17500" y="549275"/>
              <a:ext cx="1905000" cy="110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0"/>
                </a:lnSpc>
              </a:pPr>
              <a:r>
                <a:rPr lang="en-US" sz="6000" b="true">
                  <a:solidFill>
                    <a:srgbClr val="E860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17500" y="1952625"/>
              <a:ext cx="6477000" cy="491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Нарийвчилсан сургалт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7500" y="3263900"/>
              <a:ext cx="6350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бодит бичлэгийн хос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байтаас байт руу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39625" y="2286000"/>
            <a:ext cx="5238750" cy="4191000"/>
            <a:chOff x="0" y="0"/>
            <a:chExt cx="6985000" cy="5588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985000" cy="5588000"/>
              <a:chOff x="0" y="0"/>
              <a:chExt cx="6985000" cy="5588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985000" cy="5588000"/>
              </a:xfrm>
              <a:custGeom>
                <a:avLst/>
                <a:gdLst/>
                <a:ahLst/>
                <a:cxnLst/>
                <a:rect r="r" b="b" t="t" l="l"/>
                <a:pathLst>
                  <a:path h="5588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985000" cy="562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17500" y="549275"/>
              <a:ext cx="1905000" cy="110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0"/>
                </a:lnSpc>
              </a:pPr>
              <a:r>
                <a:rPr lang="en-US" sz="6000" b="true">
                  <a:solidFill>
                    <a:srgbClr val="E860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17500" y="1952625"/>
              <a:ext cx="6477000" cy="491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Шахалт + ONNX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7500" y="3263900"/>
              <a:ext cx="6350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pruning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утсан дээр ажиллуулах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Үсгийн нарийвчлал 80% → 94%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7799" y="1087436"/>
            <a:ext cx="17192404" cy="811212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572250" y="8343900"/>
            <a:ext cx="5143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153243"/>
                </a:solidFill>
                <a:latin typeface="Noto Sans"/>
                <a:ea typeface="Noto Sans"/>
                <a:cs typeface="Noto Sans"/>
                <a:sym typeface="Noto Sans"/>
              </a:rPr>
              <a:t>Нарийвчлал = 100 − CER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40× том байх нь заавал дээр гэсэн үг биш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28750" y="2381250"/>
            <a:ext cx="6381750" cy="4000500"/>
            <a:chOff x="0" y="0"/>
            <a:chExt cx="8509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509000" cy="5334000"/>
              <a:chOff x="0" y="0"/>
              <a:chExt cx="8509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509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8509000">
                    <a:moveTo>
                      <a:pt x="0" y="0"/>
                    </a:moveTo>
                    <a:lnTo>
                      <a:pt x="8509000" y="0"/>
                    </a:lnTo>
                    <a:lnTo>
                      <a:pt x="8509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509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54000" y="854075"/>
              <a:ext cx="8001000" cy="2366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05"/>
                </a:lnSpc>
              </a:pPr>
              <a:r>
                <a:rPr lang="en-US" sz="127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12B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0" y="3590925"/>
              <a:ext cx="8001000" cy="98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Gemma 3 12B</a:t>
              </a:r>
            </a:p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4-bit · local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77500" y="2381250"/>
            <a:ext cx="6381750" cy="4000500"/>
            <a:chOff x="0" y="0"/>
            <a:chExt cx="8509000" cy="5334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509000" cy="5334000"/>
              <a:chOff x="0" y="0"/>
              <a:chExt cx="8509000" cy="533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09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8509000">
                    <a:moveTo>
                      <a:pt x="0" y="0"/>
                    </a:moveTo>
                    <a:lnTo>
                      <a:pt x="8509000" y="0"/>
                    </a:lnTo>
                    <a:lnTo>
                      <a:pt x="8509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509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854075"/>
              <a:ext cx="8001000" cy="2366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05"/>
                </a:lnSpc>
              </a:pPr>
              <a:r>
                <a:rPr lang="en-US" sz="12750" b="true">
                  <a:solidFill>
                    <a:srgbClr val="E860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0.3B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4000" y="3590925"/>
              <a:ext cx="8001000" cy="98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Энэ ажлын ByT5</a:t>
              </a:r>
            </a:p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D8EEEA"/>
                  </a:solidFill>
                  <a:latin typeface="Noto Sans"/>
                  <a:ea typeface="Noto Sans"/>
                  <a:cs typeface="Noto Sans"/>
                  <a:sym typeface="Noto Sans"/>
                </a:rPr>
                <a:t>195 сэтгэгдэл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00875" y="7124700"/>
            <a:ext cx="428625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5"/>
              </a:lnSpc>
            </a:pPr>
            <a:r>
              <a:rPr lang="en-US" sz="9750" b="true">
                <a:solidFill>
                  <a:srgbClr val="0E9F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40×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Кириллд хүрэх урьдчилсан алхам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476500"/>
            <a:ext cx="4953000" cy="2476500"/>
            <a:chOff x="0" y="0"/>
            <a:chExt cx="6604000" cy="330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D8EE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E860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Хайлт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2250" y="2476500"/>
            <a:ext cx="4953000" cy="2476500"/>
            <a:chOff x="0" y="0"/>
            <a:chExt cx="6604000" cy="3302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0E9F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Чатбот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96750" y="2476500"/>
            <a:ext cx="4953000" cy="2476500"/>
            <a:chOff x="0" y="0"/>
            <a:chExt cx="6604000" cy="3302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E860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Орчуулга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7750" y="5619750"/>
            <a:ext cx="4953000" cy="2476500"/>
            <a:chOff x="0" y="0"/>
            <a:chExt cx="6604000" cy="3302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0E9F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Дуут уншигч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72250" y="5619750"/>
            <a:ext cx="4953000" cy="2476500"/>
            <a:chOff x="0" y="0"/>
            <a:chExt cx="6604000" cy="3302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E860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Модераци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96750" y="5619750"/>
            <a:ext cx="4953000" cy="2476500"/>
            <a:chOff x="0" y="0"/>
            <a:chExt cx="6604000" cy="33020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794000" y="698500"/>
              <a:ext cx="1016000" cy="1016000"/>
              <a:chOff x="0" y="0"/>
              <a:chExt cx="1016000" cy="1016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0E9F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44500" y="1943100"/>
              <a:ext cx="5842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1"/>
                </a:lnSpc>
              </a:pPr>
              <a:r>
                <a:rPr lang="en-US" sz="25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Аналитик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сая мессежийн зардал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5786" y="797964"/>
            <a:ext cx="17776427" cy="88815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Хэмнэлт нь шууд хэмжигдэнэ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571750"/>
            <a:ext cx="7048500" cy="3429000"/>
            <a:chOff x="0" y="0"/>
            <a:chExt cx="9398000" cy="457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398000" cy="4572000"/>
              <a:chOff x="0" y="0"/>
              <a:chExt cx="9398000" cy="457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398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9398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398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54000" y="895350"/>
              <a:ext cx="8890000" cy="1540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15"/>
                </a:lnSpc>
              </a:pPr>
              <a:r>
                <a:rPr lang="en-US" sz="8250" b="true">
                  <a:solidFill>
                    <a:srgbClr val="1532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2.9 сая₮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0" y="28924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100">
                  <a:solidFill>
                    <a:srgbClr val="153243"/>
                  </a:solidFill>
                  <a:latin typeface="Noto Sans"/>
                  <a:ea typeface="Noto Sans"/>
                  <a:cs typeface="Noto Sans"/>
                  <a:sym typeface="Noto Sans"/>
                </a:rPr>
                <a:t>API (Haiku) / сар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96500" y="2571750"/>
            <a:ext cx="7048500" cy="3429000"/>
            <a:chOff x="0" y="0"/>
            <a:chExt cx="9398000" cy="4572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398000" cy="4572000"/>
              <a:chOff x="0" y="0"/>
              <a:chExt cx="9398000" cy="4572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398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9398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D8EE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398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895350"/>
              <a:ext cx="8890000" cy="1540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15"/>
                </a:lnSpc>
              </a:pPr>
              <a:r>
                <a:rPr lang="en-US" sz="8250" b="true">
                  <a:solidFill>
                    <a:srgbClr val="0E9F8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0.3 сая₮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4000" y="28924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100">
                  <a:solidFill>
                    <a:srgbClr val="153243"/>
                  </a:solidFill>
                  <a:latin typeface="Noto Sans"/>
                  <a:ea typeface="Noto Sans"/>
                  <a:cs typeface="Noto Sans"/>
                  <a:sym typeface="Noto Sans"/>
                </a:rPr>
                <a:t>манай загвар / сар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67250" y="7343775"/>
            <a:ext cx="8953500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000" b="true">
                <a:solidFill>
                  <a:srgbClr val="E860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≈ 2.6 сая₮ / сар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53000" y="8439150"/>
            <a:ext cx="8382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153243"/>
                </a:solidFill>
                <a:latin typeface="Noto Sans"/>
                <a:ea typeface="Noto Sans"/>
                <a:cs typeface="Noto Sans"/>
                <a:sym typeface="Noto Sans"/>
              </a:rPr>
              <a:t>10 сая мессеж хөрвүүлдэг байгууллагын жишээ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300 сая → 46 сая → 20 сая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3028950"/>
            <a:ext cx="47625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5"/>
              </a:lnSpc>
            </a:pPr>
            <a:r>
              <a:rPr lang="en-US" sz="9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300M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2750" y="3028950"/>
            <a:ext cx="47625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5"/>
              </a:lnSpc>
            </a:pPr>
            <a:r>
              <a:rPr lang="en-US" sz="9750" b="true">
                <a:solidFill>
                  <a:srgbClr val="0E9F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46M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028950"/>
            <a:ext cx="47625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5"/>
              </a:lnSpc>
            </a:pPr>
            <a:r>
              <a:rPr lang="en-US" sz="9750" b="true">
                <a:solidFill>
                  <a:srgbClr val="E860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482917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ByT5 суурь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2750" y="482917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pruning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482917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нэг гүйлтийн таггер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3250" y="7667625"/>
            <a:ext cx="12001500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Декодергүй архитектур → бага санах ой → хурдан таамаглал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715000" y="4000500"/>
            <a:ext cx="857250" cy="0"/>
          </a:xfrm>
          <a:prstGeom prst="line">
            <a:avLst/>
          </a:prstGeom>
          <a:ln cap="rnd" w="95250">
            <a:solidFill>
              <a:srgbClr val="E860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620500" y="4000500"/>
            <a:ext cx="857250" cy="0"/>
          </a:xfrm>
          <a:prstGeom prst="line">
            <a:avLst/>
          </a:prstGeom>
          <a:ln cap="rnd" w="95250">
            <a:solidFill>
              <a:srgbClr val="E8603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Android гар: пиньинь зарчим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762250"/>
            <a:ext cx="7810500" cy="3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85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 Латин оролт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4191000"/>
            <a:ext cx="7810500" cy="3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85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 Кирилл санал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5619750"/>
            <a:ext cx="7810500" cy="3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850" b="true">
                <a:solidFill>
                  <a:srgbClr val="E860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 Сонголт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7048500"/>
            <a:ext cx="7810500" cy="3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850" b="true">
                <a:solidFill>
                  <a:srgbClr val="1532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 Оролт баталгаажна</a:t>
            </a:r>
          </a:p>
        </p:txBody>
      </p:sp>
      <p:pic>
        <p:nvPicPr>
          <p:cNvPr name="Picture 7" id="7" descr="Android эмулятор дээр гар: Yag odoo ene prototype-g turshij bna → Яг одоо энэ prototype-г туршиж байна (5 дахин давтана)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715500" y="2857500"/>
            <a:ext cx="7429500" cy="5076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39524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0" y="1647825"/>
            <a:ext cx="8382000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Өөрөө туршиж</a:t>
            </a:r>
          </a:p>
          <a:p>
            <a:pPr algn="l">
              <a:lnSpc>
                <a:spcPts val="7650"/>
              </a:lnSpc>
            </a:pPr>
            <a:r>
              <a:rPr lang="en-US" sz="7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үзнэ үү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4067175"/>
            <a:ext cx="7429500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Вэб демо  ·  Гарын горим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5905500"/>
            <a:ext cx="8286750" cy="1238250"/>
            <a:chOff x="0" y="0"/>
            <a:chExt cx="11049000" cy="1651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049000" cy="1651000"/>
              <a:chOff x="0" y="0"/>
              <a:chExt cx="11049000" cy="1651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049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1049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73E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1049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54000" y="479425"/>
              <a:ext cx="1054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track-pictures-believes-shelter.trycloudflare.com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191000" y="8305800"/>
            <a:ext cx="4000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Демо сайт руу</a:t>
            </a:r>
          </a:p>
        </p:txBody>
      </p:sp>
      <p:sp>
        <p:nvSpPr>
          <p:cNvPr name="Freeform 11" id="11" descr="QR: демо сайт"/>
          <p:cNvSpPr/>
          <p:nvPr/>
        </p:nvSpPr>
        <p:spPr>
          <a:xfrm flipH="false" flipV="false" rot="0">
            <a:off x="1047750" y="7000875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81750" y="571500"/>
            <a:ext cx="5524500" cy="5524500"/>
            <a:chOff x="0" y="0"/>
            <a:chExt cx="7366000" cy="736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0E9F8A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6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9250" y="1847850"/>
            <a:ext cx="15049500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8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Латинаар бичсэн ч</a:t>
            </a:r>
          </a:p>
          <a:p>
            <a:pPr algn="ctr">
              <a:lnSpc>
                <a:spcPts val="8415"/>
              </a:lnSpc>
            </a:pPr>
            <a:r>
              <a:rPr lang="en-US" sz="8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монголоор ойлгоно.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05250" y="4953000"/>
            <a:ext cx="10477500" cy="42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3150" b="true">
                <a:solidFill>
                  <a:srgbClr val="0E9F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ByT5 · 94% · 19 MB · сервер + утас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10500" y="6858000"/>
            <a:ext cx="2667000" cy="76200"/>
            <a:chOff x="0" y="0"/>
            <a:chExt cx="35560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8603C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5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381500" y="7477125"/>
            <a:ext cx="95250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600">
                <a:solidFill>
                  <a:srgbClr val="D8EEEA"/>
                </a:solidFill>
                <a:latin typeface="Noto Sans"/>
                <a:ea typeface="Noto Sans"/>
                <a:cs typeface="Noto Sans"/>
                <a:sym typeface="Noto Sans"/>
              </a:rPr>
              <a:t>Анхаарал тавьсанд баярлалаа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0250" y="5543550"/>
            <a:ext cx="1428750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1950">
                <a:solidFill>
                  <a:srgbClr val="D8EEEA"/>
                </a:solidFill>
                <a:latin typeface="Arimo"/>
                <a:ea typeface="Arimo"/>
                <a:cs typeface="Arimo"/>
                <a:sym typeface="Arimo"/>
              </a:rPr>
              <a:t>Хязгаарлалт: 195 тестийн мессеж · нэг annotator · бодит утсан дээр хараахан туршаагүй</a:t>
            </a:r>
          </a:p>
          <a:p>
            <a:pPr algn="ctr">
              <a:lnSpc>
                <a:spcPts val="2925"/>
              </a:lnSpc>
            </a:pPr>
            <a:r>
              <a:rPr lang="en-US" sz="1950">
                <a:solidFill>
                  <a:srgbClr val="D8EEEA"/>
                </a:solidFill>
                <a:latin typeface="Arimo"/>
                <a:ea typeface="Arimo"/>
                <a:cs typeface="Arimo"/>
                <a:sym typeface="Arimo"/>
              </a:rPr>
              <a:t>Сурсан зүйл: өгөгдлийн чанар загварын хэмжээнээс илүү · тусгаарласан шалгалтгүй дүгнэлт хийхгүй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DAHYcp7rFqo</dc:identifier>
  <dcterms:modified xsi:type="dcterms:W3CDTF">2011-08-01T06:04:30Z</dcterms:modified>
  <cp:revision>1</cp:revision>
  <dc:title>Кирилл хөрвүүлэлтийн AI</dc:title>
</cp:coreProperties>
</file>